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1"/>
  </p:notesMasterIdLst>
  <p:sldIdLst>
    <p:sldId id="256" r:id="rId2"/>
    <p:sldId id="257" r:id="rId3"/>
    <p:sldId id="271" r:id="rId4"/>
    <p:sldId id="258" r:id="rId5"/>
    <p:sldId id="272" r:id="rId6"/>
    <p:sldId id="273" r:id="rId7"/>
    <p:sldId id="259" r:id="rId8"/>
    <p:sldId id="260" r:id="rId9"/>
    <p:sldId id="270" r:id="rId10"/>
    <p:sldId id="262" r:id="rId11"/>
    <p:sldId id="263" r:id="rId12"/>
    <p:sldId id="264" r:id="rId13"/>
    <p:sldId id="265" r:id="rId14"/>
    <p:sldId id="266" r:id="rId15"/>
    <p:sldId id="267" r:id="rId16"/>
    <p:sldId id="275" r:id="rId17"/>
    <p:sldId id="268" r:id="rId18"/>
    <p:sldId id="274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9614" autoAdjust="0"/>
  </p:normalViewPr>
  <p:slideViewPr>
    <p:cSldViewPr>
      <p:cViewPr varScale="1">
        <p:scale>
          <a:sx n="69" d="100"/>
          <a:sy n="69" d="100"/>
        </p:scale>
        <p:origin x="-1196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930396-F47F-4F59-A8A2-A8D5BFE06D69}" type="datetimeFigureOut">
              <a:rPr lang="en-US" smtClean="0"/>
              <a:t>14-Jun-26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BAD34F-C78C-480A-A032-D4C9CE915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567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BAD34F-C78C-480A-A032-D4C9CE915BA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62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92C4D37-ABE6-4D8A-95D9-3FC2084F780A}" type="datetimeFigureOut">
              <a:rPr lang="en-US" smtClean="0"/>
              <a:t>14-Jun-26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340A0F90-3951-4636-866E-7EB9E310C3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92C4D37-ABE6-4D8A-95D9-3FC2084F780A}" type="datetimeFigureOut">
              <a:rPr lang="en-US" smtClean="0"/>
              <a:t>14-Jun-26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40A0F90-3951-4636-866E-7EB9E310C37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92C4D37-ABE6-4D8A-95D9-3FC2084F780A}" type="datetimeFigureOut">
              <a:rPr lang="en-US" smtClean="0"/>
              <a:t>14-Jun-26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40A0F90-3951-4636-866E-7EB9E310C37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92C4D37-ABE6-4D8A-95D9-3FC2084F780A}" type="datetimeFigureOut">
              <a:rPr lang="en-US" smtClean="0"/>
              <a:t>14-Jun-26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40A0F90-3951-4636-866E-7EB9E310C37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92C4D37-ABE6-4D8A-95D9-3FC2084F780A}" type="datetimeFigureOut">
              <a:rPr lang="en-US" smtClean="0"/>
              <a:t>14-Jun-26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40A0F90-3951-4636-866E-7EB9E310C375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92C4D37-ABE6-4D8A-95D9-3FC2084F780A}" type="datetimeFigureOut">
              <a:rPr lang="en-US" smtClean="0"/>
              <a:t>14-Jun-26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40A0F90-3951-4636-866E-7EB9E310C37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92C4D37-ABE6-4D8A-95D9-3FC2084F780A}" type="datetimeFigureOut">
              <a:rPr lang="en-US" smtClean="0"/>
              <a:t>14-Jun-26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40A0F90-3951-4636-866E-7EB9E310C3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092C4D37-ABE6-4D8A-95D9-3FC2084F780A}" type="datetimeFigureOut">
              <a:rPr lang="en-US" smtClean="0"/>
              <a:t>14-Jun-26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40A0F90-3951-4636-866E-7EB9E310C375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92C4D37-ABE6-4D8A-95D9-3FC2084F780A}" type="datetimeFigureOut">
              <a:rPr lang="en-US" smtClean="0"/>
              <a:t>14-Jun-26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340A0F90-3951-4636-866E-7EB9E310C37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92C4D37-ABE6-4D8A-95D9-3FC2084F780A}" type="datetimeFigureOut">
              <a:rPr lang="en-US" smtClean="0"/>
              <a:t>14-Jun-26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40A0F90-3951-4636-866E-7EB9E310C3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92C4D37-ABE6-4D8A-95D9-3FC2084F780A}" type="datetimeFigureOut">
              <a:rPr lang="en-US" smtClean="0"/>
              <a:t>14-Jun-26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340A0F90-3951-4636-866E-7EB9E310C3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092C4D37-ABE6-4D8A-95D9-3FC2084F780A}" type="datetimeFigureOut">
              <a:rPr lang="en-US" smtClean="0"/>
              <a:t>14-Jun-26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340A0F90-3951-4636-866E-7EB9E310C37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762001"/>
            <a:ext cx="7696200" cy="198120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 smtClean="0"/>
              <a:t>♻</a:t>
            </a:r>
            <a:r>
              <a:rPr lang="en-US" sz="3600" b="1" dirty="0" err="1" smtClean="0"/>
              <a:t>EcoSort</a:t>
            </a:r>
            <a:r>
              <a:rPr lang="en-US" sz="3600" b="1" dirty="0" smtClean="0"/>
              <a:t> AI</a:t>
            </a:r>
            <a:br>
              <a:rPr lang="en-US" sz="3600" b="1" dirty="0" smtClean="0"/>
            </a:br>
            <a:r>
              <a:rPr lang="en-US" sz="3600" b="1" dirty="0" smtClean="0"/>
              <a:t>Intelligent Waste Segregation and Recycling Assistant</a:t>
            </a:r>
            <a:br>
              <a:rPr lang="en-US" sz="3600" b="1" dirty="0" smtClean="0"/>
            </a:b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971800"/>
            <a:ext cx="8077200" cy="243840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chemeClr val="tx1"/>
                </a:solidFill>
              </a:rPr>
              <a:t>Submitted under: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000" dirty="0" smtClean="0">
                <a:solidFill>
                  <a:schemeClr val="tx1"/>
                </a:solidFill>
              </a:rPr>
              <a:t>1M1B – AI for Sustainability Virtual Internship</a:t>
            </a:r>
            <a:br>
              <a:rPr lang="en-US" sz="2000" dirty="0" smtClean="0">
                <a:solidFill>
                  <a:schemeClr val="tx1"/>
                </a:solidFill>
              </a:rPr>
            </a:br>
            <a:r>
              <a:rPr lang="en-US" sz="2000" dirty="0" smtClean="0">
                <a:solidFill>
                  <a:schemeClr val="tx1"/>
                </a:solidFill>
              </a:rPr>
              <a:t>(In collaboration with IBM </a:t>
            </a:r>
            <a:r>
              <a:rPr lang="en-US" sz="2000" dirty="0" err="1" smtClean="0">
                <a:solidFill>
                  <a:schemeClr val="tx1"/>
                </a:solidFill>
              </a:rPr>
              <a:t>SkillsBuild</a:t>
            </a:r>
            <a:r>
              <a:rPr lang="en-US" sz="2000" dirty="0" smtClean="0">
                <a:solidFill>
                  <a:schemeClr val="tx1"/>
                </a:solidFill>
              </a:rPr>
              <a:t> &amp; AICTE)</a:t>
            </a:r>
          </a:p>
          <a:p>
            <a:pPr algn="l"/>
            <a:r>
              <a:rPr lang="en-US" sz="2000" b="1" dirty="0" smtClean="0">
                <a:solidFill>
                  <a:schemeClr val="tx1"/>
                </a:solidFill>
              </a:rPr>
              <a:t>Name:</a:t>
            </a:r>
            <a:r>
              <a:rPr lang="en-US" sz="2000" dirty="0" smtClean="0">
                <a:solidFill>
                  <a:schemeClr val="tx1"/>
                </a:solidFill>
              </a:rPr>
              <a:t> Mohammed </a:t>
            </a:r>
            <a:r>
              <a:rPr lang="en-US" sz="2000" dirty="0" err="1" smtClean="0">
                <a:solidFill>
                  <a:schemeClr val="tx1"/>
                </a:solidFill>
              </a:rPr>
              <a:t>Saad</a:t>
            </a:r>
            <a:r>
              <a:rPr lang="en-US" sz="2000" dirty="0" smtClean="0">
                <a:solidFill>
                  <a:schemeClr val="tx1"/>
                </a:solidFill>
              </a:rPr>
              <a:t/>
            </a:r>
            <a:br>
              <a:rPr lang="en-US" sz="2000" dirty="0" smtClean="0">
                <a:solidFill>
                  <a:schemeClr val="tx1"/>
                </a:solidFill>
              </a:rPr>
            </a:br>
            <a:r>
              <a:rPr lang="en-US" sz="2000" b="1" dirty="0" smtClean="0">
                <a:solidFill>
                  <a:schemeClr val="tx1"/>
                </a:solidFill>
              </a:rPr>
              <a:t>College: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Marri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</a:rPr>
              <a:t>Laxman</a:t>
            </a:r>
            <a:r>
              <a:rPr lang="en-US" sz="2000" dirty="0" smtClean="0">
                <a:solidFill>
                  <a:schemeClr val="tx1"/>
                </a:solidFill>
              </a:rPr>
              <a:t> Reddy Institute Of Technology And Management</a:t>
            </a:r>
          </a:p>
          <a:p>
            <a:r>
              <a:rPr lang="en-US" sz="2000" dirty="0" smtClean="0"/>
              <a:t> 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7114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716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Improper waste segregation is one of the major environmental challenges today.</a:t>
            </a:r>
          </a:p>
          <a:p>
            <a:pPr marL="0" indent="0">
              <a:buNone/>
            </a:pPr>
            <a:r>
              <a:rPr lang="en-US" sz="2200" b="1" dirty="0" smtClean="0"/>
              <a:t>Most people:</a:t>
            </a:r>
          </a:p>
          <a:p>
            <a:r>
              <a:rPr lang="en-US" sz="1800" dirty="0" smtClean="0"/>
              <a:t>Do not know how to correctly segregate waste </a:t>
            </a:r>
          </a:p>
          <a:p>
            <a:r>
              <a:rPr lang="en-US" sz="1800" dirty="0" smtClean="0"/>
              <a:t>Mix recyclable, biodegradable, and hazardous waste </a:t>
            </a:r>
          </a:p>
          <a:p>
            <a:r>
              <a:rPr lang="en-US" sz="1800" dirty="0" smtClean="0"/>
              <a:t>Contribute to landfill overflow and pollution </a:t>
            </a:r>
          </a:p>
          <a:p>
            <a:r>
              <a:rPr lang="en-US" sz="1800" dirty="0"/>
              <a:t>Lack awareness of proper recycling and disposal methods </a:t>
            </a:r>
            <a:endParaRPr lang="en-US" sz="1800" dirty="0" smtClean="0"/>
          </a:p>
          <a:p>
            <a:r>
              <a:rPr lang="en-US" sz="1800" dirty="0" smtClean="0"/>
              <a:t>Struggle </a:t>
            </a:r>
            <a:r>
              <a:rPr lang="en-US" sz="1800" dirty="0"/>
              <a:t>to identify hazardous and electronic waste correctly</a:t>
            </a:r>
            <a:endParaRPr lang="en-US" sz="1800" dirty="0" smtClean="0"/>
          </a:p>
          <a:p>
            <a:pPr marL="0" indent="0">
              <a:buNone/>
            </a:pPr>
            <a:r>
              <a:rPr lang="en-US" sz="2200" b="1" dirty="0" smtClean="0"/>
              <a:t>This leads to:</a:t>
            </a:r>
          </a:p>
          <a:p>
            <a:r>
              <a:rPr lang="en-US" sz="1800" dirty="0" smtClean="0"/>
              <a:t>Reduced recycling efficiency </a:t>
            </a:r>
          </a:p>
          <a:p>
            <a:r>
              <a:rPr lang="en-US" sz="1800" dirty="0" smtClean="0"/>
              <a:t>Environmental degradation </a:t>
            </a:r>
          </a:p>
          <a:p>
            <a:r>
              <a:rPr lang="en-US" sz="1800" dirty="0" smtClean="0"/>
              <a:t>Increased waste management costs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PROBLEM STATEMENT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107544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dirty="0" err="1"/>
              <a:t>EcoSort</a:t>
            </a:r>
            <a:r>
              <a:rPr lang="en-US" sz="2200" dirty="0"/>
              <a:t> AI is designed to help various stakeholders involved in waste management and sustainability.</a:t>
            </a:r>
          </a:p>
          <a:p>
            <a:pPr marL="0" indent="0">
              <a:buNone/>
            </a:pPr>
            <a:r>
              <a:rPr lang="en-US" sz="2400" b="1" dirty="0"/>
              <a:t>1. Households &amp; Families</a:t>
            </a:r>
          </a:p>
          <a:p>
            <a:r>
              <a:rPr lang="en-US" sz="1900" dirty="0"/>
              <a:t>Helps users identify waste categories correctly. </a:t>
            </a:r>
          </a:p>
          <a:p>
            <a:r>
              <a:rPr lang="en-US" sz="1900" dirty="0"/>
              <a:t>Encourages responsible disposal habits. </a:t>
            </a:r>
          </a:p>
          <a:p>
            <a:r>
              <a:rPr lang="en-US" sz="1900" dirty="0"/>
              <a:t>Reduces household waste contamination. </a:t>
            </a:r>
          </a:p>
          <a:p>
            <a:pPr marL="0" indent="0">
              <a:buNone/>
            </a:pPr>
            <a:r>
              <a:rPr lang="en-US" sz="2400" b="1" dirty="0"/>
              <a:t>2. Students &amp; Educational Institutions</a:t>
            </a:r>
          </a:p>
          <a:p>
            <a:r>
              <a:rPr lang="en-US" sz="1900" dirty="0"/>
              <a:t>Creates awareness about waste segregation. </a:t>
            </a:r>
          </a:p>
          <a:p>
            <a:r>
              <a:rPr lang="en-US" sz="1900" dirty="0"/>
              <a:t>Acts as an educational sustainability tool. </a:t>
            </a:r>
          </a:p>
          <a:p>
            <a:r>
              <a:rPr lang="en-US" sz="1900" dirty="0"/>
              <a:t>Encourages eco-friendly behavior among youth. </a:t>
            </a:r>
          </a:p>
          <a:p>
            <a:pPr marL="0" indent="0">
              <a:buNone/>
            </a:pPr>
            <a:r>
              <a:rPr lang="en-US" sz="2400" b="1" dirty="0"/>
              <a:t>3. Offices &amp; Commercial Spaces</a:t>
            </a:r>
          </a:p>
          <a:p>
            <a:r>
              <a:rPr lang="en-US" sz="1900" dirty="0"/>
              <a:t>Improves workplace waste management. </a:t>
            </a:r>
          </a:p>
          <a:p>
            <a:r>
              <a:rPr lang="en-US" sz="1900" dirty="0"/>
              <a:t>Reduces mixed waste generation. </a:t>
            </a:r>
          </a:p>
          <a:p>
            <a:r>
              <a:rPr lang="en-US" sz="1900" dirty="0"/>
              <a:t>Supports corporate sustainability initiatives. </a:t>
            </a:r>
          </a:p>
          <a:p>
            <a:pPr marL="0" indent="0">
              <a:buNone/>
            </a:pPr>
            <a:endParaRPr lang="en-US" sz="2800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Target Users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68608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 smtClean="0"/>
              <a:t>EcoSort</a:t>
            </a:r>
            <a:r>
              <a:rPr lang="en-US" sz="2000" dirty="0" smtClean="0"/>
              <a:t> AI is aligned with:</a:t>
            </a:r>
            <a:endParaRPr lang="en-US" sz="20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200" b="1" dirty="0" smtClean="0">
                <a:solidFill>
                  <a:srgbClr val="FF0000"/>
                </a:solidFill>
              </a:rPr>
              <a:t>🎯</a:t>
            </a:r>
            <a:r>
              <a:rPr lang="en-US" sz="2200" b="1" dirty="0" smtClean="0"/>
              <a:t> Primary SDG:</a:t>
            </a:r>
          </a:p>
          <a:p>
            <a:pPr marL="0" indent="0">
              <a:buNone/>
            </a:pPr>
            <a:r>
              <a:rPr lang="en-US" sz="2200" b="1" dirty="0" smtClean="0"/>
              <a:t>SDG 12: Responsible Consumption and Production</a:t>
            </a:r>
          </a:p>
          <a:p>
            <a:r>
              <a:rPr lang="en-US" sz="1800" dirty="0" smtClean="0"/>
              <a:t>Promotes correct segregation of waste at the source</a:t>
            </a:r>
          </a:p>
          <a:p>
            <a:r>
              <a:rPr lang="en-US" sz="1800" dirty="0" smtClean="0"/>
              <a:t>Reduces contamination in recycling systems</a:t>
            </a:r>
          </a:p>
          <a:p>
            <a:r>
              <a:rPr lang="en-US" sz="1800" dirty="0" smtClean="0"/>
              <a:t>Encourages responsible disposal habits among citizens</a:t>
            </a:r>
          </a:p>
          <a:p>
            <a:pPr marL="0" indent="0">
              <a:buNone/>
            </a:pPr>
            <a:r>
              <a:rPr lang="en-US" sz="2200" b="1" dirty="0" smtClean="0">
                <a:solidFill>
                  <a:srgbClr val="92D050"/>
                </a:solidFill>
              </a:rPr>
              <a:t>🌱 </a:t>
            </a:r>
            <a:r>
              <a:rPr lang="en-US" sz="2200" b="1" dirty="0" smtClean="0"/>
              <a:t>Contribution:</a:t>
            </a:r>
          </a:p>
          <a:p>
            <a:r>
              <a:rPr lang="en-US" sz="1800" dirty="0" err="1" smtClean="0"/>
              <a:t>EcoSort</a:t>
            </a:r>
            <a:r>
              <a:rPr lang="en-US" sz="1800" dirty="0" smtClean="0"/>
              <a:t> AI promotes responsible waste segregation, reduces landfill waste, and encourages sustainable consumption habits. </a:t>
            </a:r>
          </a:p>
          <a:p>
            <a:r>
              <a:rPr lang="en-US" sz="1800" dirty="0" smtClean="0"/>
              <a:t>Reduces landfill waste accumulation Improves recycling efficiency and resource recovery</a:t>
            </a:r>
          </a:p>
          <a:p>
            <a:r>
              <a:rPr lang="en-US" sz="1800" dirty="0" smtClean="0"/>
              <a:t> Encourages sustainable behavior through AI guidance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Sustainable Development Goal Alignment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65111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100" b="1" dirty="0"/>
              <a:t>🤖 Why Artificial Intelligence?</a:t>
            </a:r>
          </a:p>
          <a:p>
            <a:r>
              <a:rPr lang="en-US" sz="2900" dirty="0"/>
              <a:t>Traditional waste segregation methods often depend on human knowledge and manual decision-making, which can lead to errors and improper disposal.</a:t>
            </a:r>
          </a:p>
          <a:p>
            <a:pPr marL="0" indent="0">
              <a:buNone/>
            </a:pPr>
            <a:r>
              <a:rPr lang="en-US" sz="3100" b="1" dirty="0"/>
              <a:t>Challenges with Traditional Methods</a:t>
            </a:r>
          </a:p>
          <a:p>
            <a:r>
              <a:rPr lang="en-US" sz="2600" dirty="0"/>
              <a:t>People often cannot identify waste categories correctly. </a:t>
            </a:r>
          </a:p>
          <a:p>
            <a:r>
              <a:rPr lang="en-US" sz="2600" dirty="0"/>
              <a:t>Disposal guidelines are not easily accessible. </a:t>
            </a:r>
          </a:p>
          <a:p>
            <a:r>
              <a:rPr lang="en-US" sz="2600" dirty="0"/>
              <a:t>Manual classification is time-consuming. </a:t>
            </a:r>
            <a:r>
              <a:rPr lang="en-US" sz="2600" dirty="0" smtClean="0"/>
              <a:t> </a:t>
            </a:r>
            <a:endParaRPr lang="en-US" sz="2600" dirty="0"/>
          </a:p>
          <a:p>
            <a:pPr marL="0" indent="0">
              <a:buNone/>
            </a:pPr>
            <a:r>
              <a:rPr lang="en-US" b="1" dirty="0"/>
              <a:t>Benefits of Using AI</a:t>
            </a:r>
          </a:p>
          <a:p>
            <a:r>
              <a:rPr lang="en-US" sz="2600" dirty="0"/>
              <a:t>Provides instant waste classification. </a:t>
            </a:r>
          </a:p>
          <a:p>
            <a:r>
              <a:rPr lang="en-US" sz="2600" dirty="0"/>
              <a:t>Generates intelligent disposal recommendations. </a:t>
            </a:r>
          </a:p>
          <a:p>
            <a:r>
              <a:rPr lang="en-US" sz="2600" dirty="0"/>
              <a:t>Analyzes environmental impact automatically. </a:t>
            </a:r>
            <a:r>
              <a:rPr lang="en-US" sz="2600" dirty="0" smtClean="0"/>
              <a:t> </a:t>
            </a:r>
            <a:endParaRPr lang="en-US" sz="2600" dirty="0"/>
          </a:p>
          <a:p>
            <a:pPr marL="0" indent="0">
              <a:buNone/>
            </a:pPr>
            <a:r>
              <a:rPr lang="en-US" b="1" dirty="0"/>
              <a:t>Why AI is </a:t>
            </a:r>
            <a:r>
              <a:rPr lang="en-US" b="1" dirty="0" smtClean="0"/>
              <a:t>Necessary</a:t>
            </a:r>
          </a:p>
          <a:p>
            <a:r>
              <a:rPr lang="en-US" sz="2600" dirty="0"/>
              <a:t>Improves accuracy in waste segregation. </a:t>
            </a:r>
          </a:p>
          <a:p>
            <a:r>
              <a:rPr lang="en-US" sz="2600" dirty="0" smtClean="0"/>
              <a:t>Enhances </a:t>
            </a:r>
            <a:r>
              <a:rPr lang="en-US" sz="2600" dirty="0"/>
              <a:t>user awareness and education. </a:t>
            </a:r>
          </a:p>
          <a:p>
            <a:r>
              <a:rPr lang="en-US" sz="2600" dirty="0"/>
              <a:t>Enables personalized sustainability guidance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Why AI?</a:t>
            </a: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63080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382000" cy="5715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 smtClean="0"/>
              <a:t>1. Empathize</a:t>
            </a:r>
          </a:p>
          <a:p>
            <a:r>
              <a:rPr lang="en-US" sz="1800" dirty="0" smtClean="0"/>
              <a:t>Understanding </a:t>
            </a:r>
            <a:r>
              <a:rPr lang="en-US" sz="1800" dirty="0"/>
              <a:t>challenges faced by individuals in identifying and disposing of waste correctly.</a:t>
            </a:r>
          </a:p>
          <a:p>
            <a:r>
              <a:rPr lang="en-US" sz="1800" dirty="0"/>
              <a:t>Lack of awareness regarding waste categories</a:t>
            </a:r>
            <a:r>
              <a:rPr lang="en-US" sz="1400" dirty="0"/>
              <a:t>. </a:t>
            </a:r>
          </a:p>
          <a:p>
            <a:pPr marL="0" indent="0">
              <a:buNone/>
            </a:pPr>
            <a:r>
              <a:rPr lang="en-US" sz="2200" b="1" dirty="0"/>
              <a:t>2. Define</a:t>
            </a:r>
          </a:p>
          <a:p>
            <a:r>
              <a:rPr lang="en-US" sz="1800" dirty="0"/>
              <a:t>Clearly identifying the core problem.</a:t>
            </a:r>
          </a:p>
          <a:p>
            <a:r>
              <a:rPr lang="en-US" sz="1800" dirty="0"/>
              <a:t>Improper waste segregation. </a:t>
            </a:r>
          </a:p>
          <a:p>
            <a:pPr marL="0" indent="0">
              <a:buNone/>
            </a:pPr>
            <a:r>
              <a:rPr lang="en-US" sz="2200" b="1" dirty="0"/>
              <a:t>3. Ideate</a:t>
            </a:r>
          </a:p>
          <a:p>
            <a:r>
              <a:rPr lang="en-US" sz="1800" dirty="0"/>
              <a:t>Generating innovative AI-based solutions.</a:t>
            </a:r>
          </a:p>
          <a:p>
            <a:r>
              <a:rPr lang="en-US" sz="1800" dirty="0"/>
              <a:t>AI-powered waste classification. </a:t>
            </a:r>
          </a:p>
          <a:p>
            <a:pPr marL="0" indent="0">
              <a:buNone/>
            </a:pPr>
            <a:r>
              <a:rPr lang="en-US" sz="2200" b="1" dirty="0"/>
              <a:t>4. Prototype</a:t>
            </a:r>
          </a:p>
          <a:p>
            <a:r>
              <a:rPr lang="en-US" sz="1800" dirty="0"/>
              <a:t>Building a functional solution.</a:t>
            </a:r>
          </a:p>
          <a:p>
            <a:r>
              <a:rPr lang="en-US" sz="1800" dirty="0" err="1"/>
              <a:t>Streamlit</a:t>
            </a:r>
            <a:r>
              <a:rPr lang="en-US" sz="1800" dirty="0"/>
              <a:t>-based user </a:t>
            </a:r>
            <a:r>
              <a:rPr lang="en-US" sz="1800" dirty="0" smtClean="0"/>
              <a:t>interface</a:t>
            </a:r>
            <a:r>
              <a:rPr lang="en-US" sz="1400" dirty="0"/>
              <a:t>.</a:t>
            </a:r>
          </a:p>
          <a:p>
            <a:pPr marL="0" indent="0">
              <a:buNone/>
            </a:pPr>
            <a:r>
              <a:rPr lang="en-US" sz="2200" b="1" dirty="0"/>
              <a:t>5. Test</a:t>
            </a:r>
          </a:p>
          <a:p>
            <a:r>
              <a:rPr lang="en-US" sz="1800" dirty="0"/>
              <a:t>Evaluating and improving the solution.</a:t>
            </a:r>
          </a:p>
          <a:p>
            <a:r>
              <a:rPr lang="en-US" sz="1800" dirty="0"/>
              <a:t>Testing different waste items</a:t>
            </a:r>
            <a:r>
              <a:rPr lang="en-US" sz="1400" dirty="0"/>
              <a:t>. </a:t>
            </a:r>
          </a:p>
          <a:p>
            <a:endParaRPr lang="en-US" sz="1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Design Thinking Process</a:t>
            </a: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20908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b="1" dirty="0" smtClean="0"/>
              <a:t>🤖 AI-Powered Waste Intelligence System</a:t>
            </a:r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r>
              <a:rPr lang="en-US" sz="2400" dirty="0" err="1" smtClean="0"/>
              <a:t>EcoSort</a:t>
            </a:r>
            <a:r>
              <a:rPr lang="en-US" sz="2400" dirty="0" smtClean="0"/>
              <a:t> AI is an intelligent assistant that helps users correctly identify and manage waste using Artificial Intelligence.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err="1" smtClean="0"/>
              <a:t>EcoSort</a:t>
            </a:r>
            <a:r>
              <a:rPr lang="en-US" sz="2400" dirty="0" smtClean="0"/>
              <a:t> AI is an AI-powered assistant that helps users:</a:t>
            </a:r>
          </a:p>
          <a:p>
            <a:pPr marL="0" indent="0">
              <a:buNone/>
            </a:pPr>
            <a:endParaRPr lang="en-US" sz="3100" dirty="0" smtClean="0"/>
          </a:p>
          <a:p>
            <a:r>
              <a:rPr lang="en-US" sz="2100" dirty="0" smtClean="0"/>
              <a:t>Classifies waste into: Recyclable, Biodegradable, E-Waste, Hazardous </a:t>
            </a:r>
          </a:p>
          <a:p>
            <a:r>
              <a:rPr lang="en-US" sz="2100" dirty="0" smtClean="0"/>
              <a:t>Provides safe and practical disposal instructions</a:t>
            </a:r>
          </a:p>
          <a:p>
            <a:r>
              <a:rPr lang="en-US" sz="2100" dirty="0" smtClean="0"/>
              <a:t>Analyzes environmental impact of improper disposal</a:t>
            </a:r>
          </a:p>
          <a:p>
            <a:r>
              <a:rPr lang="en-US" sz="2100" dirty="0" smtClean="0"/>
              <a:t>Generates sustainability-focused recommendations 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200" dirty="0"/>
              <a:t>IBM BOB was used during the project planning phase to explore sustainability-related concepts, refine the problem statement, and validate waste management approaches.</a:t>
            </a:r>
            <a:endParaRPr lang="en-US" sz="2200" dirty="0" smtClean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PROPOSED SOLUTION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51796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 err="1" smtClean="0"/>
              <a:t>EcoSort</a:t>
            </a:r>
            <a:r>
              <a:rPr lang="en-US" sz="2200" dirty="0" smtClean="0"/>
              <a:t> AI uses Artificial Intelligence for:</a:t>
            </a:r>
          </a:p>
          <a:p>
            <a:pPr marL="0" indent="0">
              <a:buNone/>
            </a:pPr>
            <a:endParaRPr lang="en-US" sz="2200" dirty="0" smtClean="0"/>
          </a:p>
          <a:p>
            <a:r>
              <a:rPr lang="en-US" sz="1800" dirty="0" smtClean="0"/>
              <a:t>Waste classification (Recyclable, Biodegradable, E-Waste, Hazardous) </a:t>
            </a:r>
          </a:p>
          <a:p>
            <a:r>
              <a:rPr lang="en-US" sz="1800" dirty="0" smtClean="0"/>
              <a:t>Image recognition of waste items </a:t>
            </a:r>
          </a:p>
          <a:p>
            <a:r>
              <a:rPr lang="en-US" sz="1800" dirty="0" smtClean="0"/>
              <a:t>Environmental impact analysis </a:t>
            </a:r>
          </a:p>
          <a:p>
            <a:r>
              <a:rPr lang="en-US" sz="1800" dirty="0" smtClean="0"/>
              <a:t>Generating smart recycling suggestions </a:t>
            </a:r>
          </a:p>
          <a:p>
            <a:pPr marL="0" indent="0">
              <a:buNone/>
            </a:pPr>
            <a:r>
              <a:rPr lang="en-US" sz="2200" b="1" dirty="0" smtClean="0"/>
              <a:t>AI Technologies Used:</a:t>
            </a:r>
          </a:p>
          <a:p>
            <a:pPr marL="0" indent="0">
              <a:buNone/>
            </a:pPr>
            <a:endParaRPr lang="en-US" sz="2200" b="1" dirty="0" smtClean="0"/>
          </a:p>
          <a:p>
            <a:r>
              <a:rPr lang="en-US" sz="1800" dirty="0" smtClean="0"/>
              <a:t>Large Language Models (LLMs) via </a:t>
            </a:r>
            <a:r>
              <a:rPr lang="en-US" sz="1800" dirty="0" err="1" smtClean="0"/>
              <a:t>Groq</a:t>
            </a:r>
            <a:r>
              <a:rPr lang="en-US" sz="1800" dirty="0" smtClean="0"/>
              <a:t> API </a:t>
            </a:r>
          </a:p>
          <a:p>
            <a:r>
              <a:rPr lang="en-US" sz="1800" dirty="0" smtClean="0"/>
              <a:t>Prompt Engineering </a:t>
            </a:r>
          </a:p>
          <a:p>
            <a:r>
              <a:rPr lang="en-US" sz="1800" dirty="0" smtClean="0"/>
              <a:t>Vision-based AI for image detection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HOW AI IS USED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56416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ctr"/>
            <a:r>
              <a:rPr lang="en-US" dirty="0" smtClean="0"/>
              <a:t>Including visuals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Architecture Of </a:t>
            </a:r>
            <a:r>
              <a:rPr lang="en-US" dirty="0" err="1" smtClean="0"/>
              <a:t>EcoSort</a:t>
            </a:r>
            <a:r>
              <a:rPr lang="en-US" dirty="0" smtClean="0"/>
              <a:t> AI </a:t>
            </a:r>
            <a:endParaRPr lang="en-US" dirty="0"/>
          </a:p>
        </p:txBody>
      </p:sp>
      <p:pic>
        <p:nvPicPr>
          <p:cNvPr id="1026" name="Picture 2" descr="C:\Users\HOME\Desktop\ChatGPT Image Jun 8, 2026, 11_27_48 P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8600"/>
            <a:ext cx="868680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6335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83" y="1066800"/>
            <a:ext cx="91440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667000" y="609600"/>
            <a:ext cx="3124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Screen shots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45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200"/>
            <a:ext cx="9124544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9626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01725"/>
            <a:ext cx="9144000" cy="465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8578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err="1" smtClean="0"/>
              <a:t>Groq</a:t>
            </a:r>
            <a:r>
              <a:rPr lang="en-US" sz="1800" dirty="0" smtClean="0"/>
              <a:t> API (LLM inference engine) </a:t>
            </a:r>
          </a:p>
          <a:p>
            <a:r>
              <a:rPr lang="en-US" sz="1800" dirty="0" err="1" smtClean="0"/>
              <a:t>LLaMA</a:t>
            </a:r>
            <a:r>
              <a:rPr lang="en-US" sz="1800" dirty="0" smtClean="0"/>
              <a:t> 3.3 70B model </a:t>
            </a:r>
          </a:p>
          <a:p>
            <a:r>
              <a:rPr lang="en-US" sz="1800" dirty="0" err="1" smtClean="0"/>
              <a:t>LLaMA</a:t>
            </a:r>
            <a:r>
              <a:rPr lang="en-US" sz="1800" dirty="0" smtClean="0"/>
              <a:t> 4 Scout Vision Model </a:t>
            </a:r>
          </a:p>
          <a:p>
            <a:r>
              <a:rPr lang="en-US" sz="1800" dirty="0" err="1" smtClean="0"/>
              <a:t>Streamlit</a:t>
            </a:r>
            <a:r>
              <a:rPr lang="en-US" sz="1800" dirty="0" smtClean="0"/>
              <a:t> (UI development)</a:t>
            </a:r>
          </a:p>
          <a:p>
            <a:r>
              <a:rPr lang="en-US" sz="1800" dirty="0" smtClean="0"/>
              <a:t> Python (backend logic)</a:t>
            </a:r>
          </a:p>
          <a:p>
            <a:r>
              <a:rPr lang="en-US" sz="1800" dirty="0" smtClean="0"/>
              <a:t> Prompt Engineering</a:t>
            </a:r>
          </a:p>
          <a:p>
            <a:r>
              <a:rPr lang="en-US" sz="1800" dirty="0"/>
              <a:t>Interactive User Dashboard </a:t>
            </a:r>
          </a:p>
          <a:p>
            <a:r>
              <a:rPr lang="en-US" sz="1800" dirty="0"/>
              <a:t>Computer Vision Techniques </a:t>
            </a:r>
            <a:endParaRPr lang="en-US" sz="1800" dirty="0" smtClean="0"/>
          </a:p>
          <a:p>
            <a:r>
              <a:rPr lang="en-US" sz="1800" dirty="0" err="1"/>
              <a:t>Streamlit</a:t>
            </a:r>
            <a:r>
              <a:rPr lang="en-US" sz="1800" dirty="0"/>
              <a:t> Web Framework </a:t>
            </a:r>
            <a:endParaRPr lang="en-US" sz="1800" dirty="0" smtClean="0"/>
          </a:p>
          <a:p>
            <a:r>
              <a:rPr lang="en-US" sz="1800" dirty="0"/>
              <a:t>Real-Time Sustainability Recommendation System </a:t>
            </a:r>
            <a:endParaRPr lang="en-US" sz="1800" dirty="0" smtClean="0"/>
          </a:p>
          <a:p>
            <a:r>
              <a:rPr lang="en-US" sz="1800" dirty="0"/>
              <a:t>AI-Based Waste Classification System </a:t>
            </a:r>
            <a:endParaRPr lang="en-US" sz="1800" dirty="0" smtClean="0"/>
          </a:p>
          <a:p>
            <a:r>
              <a:rPr lang="en-US" sz="1800" dirty="0"/>
              <a:t>IBM BOB (Project Ideation &amp; Sustainability Research) </a:t>
            </a:r>
          </a:p>
          <a:p>
            <a:pPr marL="109728" indent="0">
              <a:buNone/>
            </a:pPr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AI MODELS &amp; TOOLS USED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8480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71600"/>
            <a:ext cx="8382000" cy="4724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err="1" smtClean="0">
                <a:latin typeface="+mj-lt"/>
                <a:cs typeface="Times New Roman" pitchFamily="18" charset="0"/>
              </a:rPr>
              <a:t>EcoSort</a:t>
            </a:r>
            <a:r>
              <a:rPr lang="en-US" sz="2000" dirty="0" smtClean="0">
                <a:latin typeface="+mj-lt"/>
                <a:cs typeface="Times New Roman" pitchFamily="18" charset="0"/>
              </a:rPr>
              <a:t> AI is designed with ethical and responsible AI principles:</a:t>
            </a:r>
          </a:p>
          <a:p>
            <a:pPr marL="0" indent="0">
              <a:buNone/>
            </a:pPr>
            <a:r>
              <a:rPr lang="en-US" sz="2200" b="1" dirty="0" smtClean="0">
                <a:latin typeface="+mj-lt"/>
                <a:cs typeface="Times New Roman" pitchFamily="18" charset="0"/>
              </a:rPr>
              <a:t>🔹 Fairness</a:t>
            </a:r>
          </a:p>
          <a:p>
            <a:r>
              <a:rPr lang="en-US" sz="1800" dirty="0" smtClean="0">
                <a:latin typeface="+mj-lt"/>
                <a:cs typeface="Times New Roman" pitchFamily="18" charset="0"/>
              </a:rPr>
              <a:t>Ensures unbiased classification across all types of waste items </a:t>
            </a:r>
          </a:p>
          <a:p>
            <a:r>
              <a:rPr lang="en-US" sz="1800" dirty="0" smtClean="0">
                <a:latin typeface="+mj-lt"/>
                <a:cs typeface="Times New Roman" pitchFamily="18" charset="0"/>
              </a:rPr>
              <a:t>Works uniformly regardless of user location or background </a:t>
            </a:r>
          </a:p>
          <a:p>
            <a:pPr marL="0" indent="0">
              <a:buNone/>
            </a:pPr>
            <a:r>
              <a:rPr lang="en-US" sz="2200" b="1" dirty="0" smtClean="0">
                <a:latin typeface="+mj-lt"/>
                <a:cs typeface="Times New Roman" pitchFamily="18" charset="0"/>
              </a:rPr>
              <a:t>🔹 Transparency</a:t>
            </a:r>
          </a:p>
          <a:p>
            <a:r>
              <a:rPr lang="en-US" sz="1800" dirty="0" smtClean="0">
                <a:latin typeface="+mj-lt"/>
                <a:cs typeface="Times New Roman" pitchFamily="18" charset="0"/>
              </a:rPr>
              <a:t>AI-generated outputs are simple and explainable </a:t>
            </a:r>
          </a:p>
          <a:p>
            <a:r>
              <a:rPr lang="en-US" sz="1800" dirty="0" smtClean="0">
                <a:latin typeface="+mj-lt"/>
                <a:cs typeface="Times New Roman" pitchFamily="18" charset="0"/>
              </a:rPr>
              <a:t>Users are informed about classification and reasoning </a:t>
            </a:r>
          </a:p>
          <a:p>
            <a:pPr marL="0" indent="0">
              <a:buNone/>
            </a:pPr>
            <a:r>
              <a:rPr lang="en-US" sz="2200" b="1" dirty="0" smtClean="0">
                <a:latin typeface="+mj-lt"/>
                <a:cs typeface="Times New Roman" pitchFamily="18" charset="0"/>
              </a:rPr>
              <a:t>🔹 Privacy &amp; Security</a:t>
            </a:r>
          </a:p>
          <a:p>
            <a:r>
              <a:rPr lang="en-US" sz="1800" dirty="0" smtClean="0">
                <a:latin typeface="+mj-lt"/>
                <a:cs typeface="Times New Roman" pitchFamily="18" charset="0"/>
              </a:rPr>
              <a:t>No personal data is collected or stored </a:t>
            </a:r>
          </a:p>
          <a:p>
            <a:r>
              <a:rPr lang="en-US" sz="1800" dirty="0" smtClean="0">
                <a:latin typeface="+mj-lt"/>
                <a:cs typeface="Times New Roman" pitchFamily="18" charset="0"/>
              </a:rPr>
              <a:t>Image processing is done only for inference </a:t>
            </a:r>
          </a:p>
          <a:p>
            <a:pPr marL="0" indent="0">
              <a:buNone/>
            </a:pPr>
            <a:r>
              <a:rPr lang="en-US" sz="2200" b="1" dirty="0" smtClean="0">
                <a:latin typeface="+mj-lt"/>
                <a:cs typeface="Times New Roman" pitchFamily="18" charset="0"/>
              </a:rPr>
              <a:t>🌱 Overall Goal:</a:t>
            </a:r>
          </a:p>
          <a:p>
            <a:r>
              <a:rPr lang="en-US" sz="1800" dirty="0" smtClean="0">
                <a:latin typeface="+mj-lt"/>
                <a:cs typeface="Times New Roman" pitchFamily="18" charset="0"/>
              </a:rPr>
              <a:t>To ensure AI is used safely, ethically, and for positive environmental impact.</a:t>
            </a:r>
          </a:p>
          <a:p>
            <a:endParaRPr lang="en-US" sz="1600" dirty="0">
              <a:latin typeface="+mj-lt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RESPONSIBLE AI CONSIDERATIONS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22007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000" b="1" dirty="0" smtClean="0"/>
              <a:t>🌍 Environmental Impact:</a:t>
            </a:r>
          </a:p>
          <a:p>
            <a:r>
              <a:rPr lang="en-US" dirty="0" smtClean="0"/>
              <a:t>Reduces improper waste disposal </a:t>
            </a:r>
          </a:p>
          <a:p>
            <a:r>
              <a:rPr lang="en-US" dirty="0" smtClean="0"/>
              <a:t>Improves recycling efficiency </a:t>
            </a:r>
          </a:p>
          <a:p>
            <a:r>
              <a:rPr lang="en-US" dirty="0" smtClean="0"/>
              <a:t>Minimizes landfill overflow </a:t>
            </a:r>
          </a:p>
          <a:p>
            <a:pPr marL="0" indent="0">
              <a:buNone/>
            </a:pPr>
            <a:r>
              <a:rPr lang="en-US" sz="4000" b="1" dirty="0" smtClean="0"/>
              <a:t>👥 Social Impact:</a:t>
            </a:r>
          </a:p>
          <a:p>
            <a:r>
              <a:rPr lang="en-US" dirty="0" smtClean="0"/>
              <a:t>Educates users about waste segregation </a:t>
            </a:r>
          </a:p>
          <a:p>
            <a:r>
              <a:rPr lang="en-US" dirty="0" smtClean="0"/>
              <a:t>Builds environmental awareness among citizens </a:t>
            </a:r>
          </a:p>
          <a:p>
            <a:r>
              <a:rPr lang="en-US" dirty="0" smtClean="0"/>
              <a:t>Encourages responsible daily habits </a:t>
            </a:r>
          </a:p>
          <a:p>
            <a:pPr marL="0" indent="0">
              <a:buNone/>
            </a:pPr>
            <a:r>
              <a:rPr lang="en-US" sz="4000" b="1" dirty="0" smtClean="0"/>
              <a:t>♻️ System-Level Impact:</a:t>
            </a:r>
          </a:p>
          <a:p>
            <a:r>
              <a:rPr lang="en-US" dirty="0" smtClean="0"/>
              <a:t>Supports smart city waste management systems </a:t>
            </a:r>
          </a:p>
          <a:p>
            <a:r>
              <a:rPr lang="en-US" dirty="0" smtClean="0"/>
              <a:t>Enables data-driven waste processing decisions </a:t>
            </a:r>
          </a:p>
          <a:p>
            <a:r>
              <a:rPr lang="en-US" dirty="0" smtClean="0"/>
              <a:t>Can be scaled for municipal use in the future</a:t>
            </a:r>
          </a:p>
          <a:p>
            <a:pPr marL="0" indent="0">
              <a:buNone/>
            </a:pPr>
            <a:r>
              <a:rPr lang="en-US" sz="4000" b="1" dirty="0" smtClean="0"/>
              <a:t>🌍 Alignment with United Nations SDGs</a:t>
            </a:r>
          </a:p>
          <a:p>
            <a:r>
              <a:rPr lang="en-US" dirty="0" smtClean="0"/>
              <a:t>Supports SDG 12: Responsible Consumption and Production. </a:t>
            </a:r>
          </a:p>
          <a:p>
            <a:r>
              <a:rPr lang="en-US" dirty="0" smtClean="0"/>
              <a:t>Encourages sustainable waste management practices. </a:t>
            </a:r>
          </a:p>
          <a:p>
            <a:r>
              <a:rPr lang="en-US" dirty="0" smtClean="0"/>
              <a:t>Promotes environmental awareness through AI.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IMPACT OF THE PROJECT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74904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728" indent="0">
              <a:buNone/>
            </a:pPr>
            <a:r>
              <a:rPr lang="en-US" sz="2500" b="1" dirty="0"/>
              <a:t>What changes if this solution is implemented?</a:t>
            </a:r>
          </a:p>
          <a:p>
            <a:r>
              <a:rPr lang="en-US" sz="1700" dirty="0"/>
              <a:t>Improved waste segregation accuracy at the household and community level. </a:t>
            </a:r>
          </a:p>
          <a:p>
            <a:r>
              <a:rPr lang="en-US" sz="1700" dirty="0"/>
              <a:t>Reduction in recyclable materials being sent to landfills. </a:t>
            </a:r>
          </a:p>
          <a:p>
            <a:r>
              <a:rPr lang="en-US" sz="1700" dirty="0"/>
              <a:t>Increased public awareness about sustainable disposal practices.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cs typeface="Calibri" pitchFamily="34" charset="0"/>
              </a:rPr>
              <a:t>IMPACT OF THE PROJECT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20876"/>
              </p:ext>
            </p:extLst>
          </p:nvPr>
        </p:nvGraphicFramePr>
        <p:xfrm>
          <a:off x="609600" y="3200400"/>
          <a:ext cx="9255900" cy="731520"/>
        </p:xfrm>
        <a:graphic>
          <a:graphicData uri="http://schemas.openxmlformats.org/drawingml/2006/table">
            <a:tbl>
              <a:tblPr/>
              <a:tblGrid>
                <a:gridCol w="3766007"/>
                <a:gridCol w="5489893"/>
              </a:tblGrid>
              <a:tr h="32229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477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04800" y="3164681"/>
            <a:ext cx="8610600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b="1" dirty="0"/>
              <a:t>Who Benefits and How?</a:t>
            </a:r>
          </a:p>
          <a:p>
            <a:r>
              <a:rPr lang="en-US" sz="1700" b="1" dirty="0" smtClean="0"/>
              <a:t>Households:</a:t>
            </a:r>
            <a:endParaRPr lang="en-US" sz="1700" dirty="0" smtClean="0"/>
          </a:p>
          <a:p>
            <a:r>
              <a:rPr lang="en-US" sz="1700" dirty="0" err="1" smtClean="0"/>
              <a:t>EcoSort</a:t>
            </a:r>
            <a:r>
              <a:rPr lang="en-US" sz="1700" dirty="0" smtClean="0"/>
              <a:t> </a:t>
            </a:r>
            <a:r>
              <a:rPr lang="en-US" sz="1700" dirty="0"/>
              <a:t>AI helps families easily identify the correct disposal method for different waste items, reducing confusion and encouraging responsible waste segregation at home.</a:t>
            </a:r>
          </a:p>
          <a:p>
            <a:r>
              <a:rPr lang="en-US" sz="1700" b="1" dirty="0"/>
              <a:t>Students and Educational Institutions:</a:t>
            </a:r>
            <a:r>
              <a:rPr lang="en-US" sz="1700" dirty="0"/>
              <a:t/>
            </a:r>
            <a:br>
              <a:rPr lang="en-US" sz="1700" dirty="0"/>
            </a:br>
            <a:r>
              <a:rPr lang="en-US" sz="1700" dirty="0"/>
              <a:t>Students gain awareness about sustainable waste management practices and environmental responsibility through an interactive AI-powered learning experience.</a:t>
            </a:r>
          </a:p>
          <a:p>
            <a:r>
              <a:rPr lang="en-US" sz="1700" b="1" dirty="0"/>
              <a:t>Local Communities:</a:t>
            </a:r>
            <a:r>
              <a:rPr lang="en-US" dirty="0"/>
              <a:t/>
            </a:r>
            <a:br>
              <a:rPr lang="en-US" dirty="0"/>
            </a:br>
            <a:r>
              <a:rPr lang="en-US" sz="1700" dirty="0"/>
              <a:t>Proper waste segregation leads to cleaner </a:t>
            </a:r>
            <a:r>
              <a:rPr lang="en-US" sz="1700" dirty="0" smtClean="0"/>
              <a:t>neighborhoods</a:t>
            </a:r>
            <a:r>
              <a:rPr lang="en-US" sz="17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8174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500" b="1" dirty="0" smtClean="0"/>
              <a:t>🔮 Future Enhancements</a:t>
            </a:r>
          </a:p>
          <a:p>
            <a:r>
              <a:rPr lang="en-US" sz="2900" dirty="0" err="1" smtClean="0"/>
              <a:t>EcoSort</a:t>
            </a:r>
            <a:r>
              <a:rPr lang="en-US" sz="2900" dirty="0" smtClean="0"/>
              <a:t> AI can be expanded into a large-scale sustainability platform:</a:t>
            </a:r>
          </a:p>
          <a:p>
            <a:pPr marL="0" indent="0">
              <a:buNone/>
            </a:pPr>
            <a:r>
              <a:rPr lang="en-US" sz="3500" b="1" dirty="0" smtClean="0"/>
              <a:t>📱 1. Mobile Application</a:t>
            </a:r>
          </a:p>
          <a:p>
            <a:r>
              <a:rPr lang="en-US" sz="2900" dirty="0" smtClean="0"/>
              <a:t>Android/</a:t>
            </a:r>
            <a:r>
              <a:rPr lang="en-US" sz="2900" dirty="0" err="1" smtClean="0"/>
              <a:t>iOS</a:t>
            </a:r>
            <a:r>
              <a:rPr lang="en-US" sz="2900" dirty="0" smtClean="0"/>
              <a:t> app for wider accessibility </a:t>
            </a:r>
          </a:p>
          <a:p>
            <a:r>
              <a:rPr lang="en-US" sz="2900" dirty="0" smtClean="0"/>
              <a:t>Real-time waste scanning using camera </a:t>
            </a:r>
          </a:p>
          <a:p>
            <a:pPr marL="0" indent="0">
              <a:buNone/>
            </a:pPr>
            <a:r>
              <a:rPr lang="en-US" sz="3500" b="1" dirty="0" smtClean="0"/>
              <a:t>🏙️ 2. Smart City Integration</a:t>
            </a:r>
          </a:p>
          <a:p>
            <a:r>
              <a:rPr lang="en-US" sz="2900" dirty="0" smtClean="0"/>
              <a:t>Integration with smart waste bins </a:t>
            </a:r>
          </a:p>
          <a:p>
            <a:r>
              <a:rPr lang="en-US" sz="2900" dirty="0" smtClean="0"/>
              <a:t>Automated waste collection systems </a:t>
            </a:r>
          </a:p>
          <a:p>
            <a:pPr marL="0" indent="0">
              <a:buNone/>
            </a:pPr>
            <a:r>
              <a:rPr lang="en-US" sz="3500" b="1" dirty="0" smtClean="0"/>
              <a:t>🤖 3. AI </a:t>
            </a:r>
            <a:r>
              <a:rPr lang="en-US" sz="3500" b="1" dirty="0" err="1" smtClean="0"/>
              <a:t>Chatbot</a:t>
            </a:r>
            <a:r>
              <a:rPr lang="en-US" sz="3500" b="1" dirty="0" smtClean="0"/>
              <a:t> Assistant</a:t>
            </a:r>
          </a:p>
          <a:p>
            <a:r>
              <a:rPr lang="en-US" sz="2900" dirty="0" err="1" smtClean="0"/>
              <a:t>WhatsApp</a:t>
            </a:r>
            <a:r>
              <a:rPr lang="en-US" sz="2900" dirty="0" smtClean="0"/>
              <a:t> / Telegram-based assistant </a:t>
            </a:r>
          </a:p>
          <a:p>
            <a:r>
              <a:rPr lang="en-US" sz="2900" dirty="0" smtClean="0"/>
              <a:t>Supports rural and low-tech users </a:t>
            </a:r>
          </a:p>
          <a:p>
            <a:pPr marL="0" indent="0">
              <a:buNone/>
            </a:pPr>
            <a:r>
              <a:rPr lang="en-US" sz="3500" b="1" dirty="0" smtClean="0"/>
              <a:t>📊 4. Municipal Dashboard</a:t>
            </a:r>
          </a:p>
          <a:p>
            <a:r>
              <a:rPr lang="en-US" sz="2900" dirty="0" smtClean="0"/>
              <a:t>Waste analytics for city authorities </a:t>
            </a:r>
          </a:p>
          <a:p>
            <a:r>
              <a:rPr lang="en-US" sz="2900" dirty="0" smtClean="0"/>
              <a:t>Data-driven waste management planning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FUTURE SCOPE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61664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2296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sz="2300" dirty="0"/>
              <a:t>The prototype demonstrates how AI can support responsible waste management and sustainable consumption practices.</a:t>
            </a:r>
          </a:p>
          <a:p>
            <a:pPr marL="0" indent="0">
              <a:buNone/>
            </a:pPr>
            <a:r>
              <a:rPr lang="en-US" sz="2600" b="1" dirty="0"/>
              <a:t>Key Achievements</a:t>
            </a:r>
          </a:p>
          <a:p>
            <a:r>
              <a:rPr lang="en-US" sz="2100" dirty="0"/>
              <a:t>Successfully classifies waste into four major categories. </a:t>
            </a:r>
          </a:p>
          <a:p>
            <a:r>
              <a:rPr lang="en-US" sz="2100" dirty="0"/>
              <a:t>Generates AI-powered disposal recommendations. </a:t>
            </a:r>
          </a:p>
          <a:p>
            <a:r>
              <a:rPr lang="en-US" sz="2100" dirty="0"/>
              <a:t>Provides environmental impact insights. </a:t>
            </a:r>
            <a:r>
              <a:rPr lang="en-US" sz="2100" dirty="0" smtClean="0"/>
              <a:t> </a:t>
            </a:r>
            <a:endParaRPr lang="en-US" sz="2100" dirty="0"/>
          </a:p>
          <a:p>
            <a:pPr marL="0" indent="0">
              <a:buNone/>
            </a:pPr>
            <a:r>
              <a:rPr lang="en-US" sz="2600" b="1" dirty="0" smtClean="0"/>
              <a:t>Sustainability Benefits</a:t>
            </a:r>
            <a:endParaRPr lang="en-US" sz="2600" b="1" dirty="0"/>
          </a:p>
          <a:p>
            <a:r>
              <a:rPr lang="en-US" sz="2100" dirty="0"/>
              <a:t>Reduces improper waste disposal. </a:t>
            </a:r>
          </a:p>
          <a:p>
            <a:r>
              <a:rPr lang="en-US" sz="2100" dirty="0"/>
              <a:t>Encourages recycling and composting. </a:t>
            </a:r>
          </a:p>
          <a:p>
            <a:r>
              <a:rPr lang="en-US" sz="2100" dirty="0"/>
              <a:t>Supports resource conservation. </a:t>
            </a:r>
            <a:r>
              <a:rPr lang="en-US" sz="2100" dirty="0" smtClean="0"/>
              <a:t> 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 smtClean="0"/>
              <a:t>Technical Outcomes</a:t>
            </a:r>
            <a:endParaRPr lang="en-US" sz="2600" b="1" dirty="0"/>
          </a:p>
          <a:p>
            <a:r>
              <a:rPr lang="en-US" sz="2100" dirty="0"/>
              <a:t>AI-driven waste classification system. </a:t>
            </a:r>
          </a:p>
          <a:p>
            <a:r>
              <a:rPr lang="en-US" sz="2100" dirty="0"/>
              <a:t>Large Language Model integration. </a:t>
            </a:r>
          </a:p>
          <a:p>
            <a:r>
              <a:rPr lang="en-US" sz="2100" dirty="0"/>
              <a:t>Vision-based waste recognition</a:t>
            </a:r>
            <a:r>
              <a:rPr lang="en-US" sz="2600" dirty="0"/>
              <a:t>.</a:t>
            </a:r>
          </a:p>
          <a:p>
            <a:endParaRPr lang="en-US" sz="29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📊 Project Outcomes &amp; Sustainability Metrics</a:t>
            </a:r>
            <a:br>
              <a:rPr lang="en-US" sz="3200" b="1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54962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 smtClean="0"/>
              <a:t>🎯 Conclusion</a:t>
            </a:r>
          </a:p>
          <a:p>
            <a:r>
              <a:rPr lang="en-US" sz="1900" dirty="0" err="1" smtClean="0"/>
              <a:t>EcoSort</a:t>
            </a:r>
            <a:r>
              <a:rPr lang="en-US" sz="1900" dirty="0" smtClean="0"/>
              <a:t> AI demonstrates how Artificial Intelligence can be applied to solve real-world environmental challenges.</a:t>
            </a:r>
          </a:p>
          <a:p>
            <a:pPr marL="0" indent="0">
              <a:buNone/>
            </a:pPr>
            <a:r>
              <a:rPr lang="en-US" sz="2400" b="1" dirty="0" smtClean="0"/>
              <a:t>✔ Key Outcome:</a:t>
            </a:r>
          </a:p>
          <a:p>
            <a:r>
              <a:rPr lang="en-US" sz="2100" dirty="0" smtClean="0"/>
              <a:t>Simplifies waste segregation using AI </a:t>
            </a:r>
          </a:p>
          <a:p>
            <a:r>
              <a:rPr lang="en-US" sz="2100" dirty="0" smtClean="0"/>
              <a:t>Provides instant and accurate disposal guidance </a:t>
            </a:r>
          </a:p>
          <a:p>
            <a:r>
              <a:rPr lang="en-US" sz="2100" dirty="0" smtClean="0"/>
              <a:t>Promotes sustainable and responsible consumption habits </a:t>
            </a:r>
          </a:p>
          <a:p>
            <a:pPr marL="0" indent="0">
              <a:buNone/>
            </a:pPr>
            <a:r>
              <a:rPr lang="en-US" sz="2400" b="1" dirty="0" smtClean="0"/>
              <a:t>🌍 Final Message:</a:t>
            </a:r>
          </a:p>
          <a:p>
            <a:r>
              <a:rPr lang="en-US" sz="1900" dirty="0" smtClean="0"/>
              <a:t>This project proves that AI is not just a technological tool, but a powerful enabler for sustainability and positive environmental change.</a:t>
            </a:r>
          </a:p>
          <a:p>
            <a:pPr marL="0" indent="0">
              <a:buNone/>
            </a:pPr>
            <a:r>
              <a:rPr lang="en-US" sz="2400" b="1" dirty="0" smtClean="0"/>
              <a:t>🚀 Vision:</a:t>
            </a:r>
          </a:p>
          <a:p>
            <a:r>
              <a:rPr lang="en-US" sz="2100" dirty="0" smtClean="0"/>
              <a:t>To contribute toward building smarter, cleaner, and more sustainable communities using AI-driven solutions.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CONCLUSION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094426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2949</TotalTime>
  <Words>1100</Words>
  <Application>Microsoft Office PowerPoint</Application>
  <PresentationFormat>On-screen Show (4:3)</PresentationFormat>
  <Paragraphs>194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Concourse</vt:lpstr>
      <vt:lpstr>♻EcoSort AI Intelligent Waste Segregation and Recycling Assistant </vt:lpstr>
      <vt:lpstr>PROBLEM STATEMENT</vt:lpstr>
      <vt:lpstr>Target Users</vt:lpstr>
      <vt:lpstr>Sustainable Development Goal Alignment</vt:lpstr>
      <vt:lpstr>Why AI? </vt:lpstr>
      <vt:lpstr>Design Thinking Process </vt:lpstr>
      <vt:lpstr>PROPOSED SOLUTION</vt:lpstr>
      <vt:lpstr>HOW AI IS USED</vt:lpstr>
      <vt:lpstr>Architecture Of EcoSort AI </vt:lpstr>
      <vt:lpstr>PowerPoint Presentation</vt:lpstr>
      <vt:lpstr>PowerPoint Presentation</vt:lpstr>
      <vt:lpstr>PowerPoint Presentation</vt:lpstr>
      <vt:lpstr>AI MODELS &amp; TOOLS USED</vt:lpstr>
      <vt:lpstr>RESPONSIBLE AI CONSIDERATIONS</vt:lpstr>
      <vt:lpstr>IMPACT OF THE PROJECT</vt:lpstr>
      <vt:lpstr>IMPACT OF THE PROJECT</vt:lpstr>
      <vt:lpstr>FUTURE SCOPE</vt:lpstr>
      <vt:lpstr>📊 Project Outcomes &amp; Sustainability Metrics 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♻EcoSort AI Intelligent Waste Segregation and Recycling Assistant</dc:title>
  <dc:creator>HOME</dc:creator>
  <cp:lastModifiedBy>HOME</cp:lastModifiedBy>
  <cp:revision>18</cp:revision>
  <dcterms:created xsi:type="dcterms:W3CDTF">2026-06-07T16:49:35Z</dcterms:created>
  <dcterms:modified xsi:type="dcterms:W3CDTF">2026-06-15T17:25:20Z</dcterms:modified>
</cp:coreProperties>
</file>